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57" r:id="rId4"/>
    <p:sldId id="258" r:id="rId5"/>
    <p:sldId id="265" r:id="rId6"/>
    <p:sldId id="259" r:id="rId7"/>
    <p:sldId id="260" r:id="rId8"/>
    <p:sldId id="261" r:id="rId9"/>
    <p:sldId id="262" r:id="rId10"/>
    <p:sldId id="263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3935" y="1652904"/>
            <a:ext cx="4525645" cy="1250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E560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52194" y="3808476"/>
            <a:ext cx="3996054" cy="1242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pc="-110" dirty="0"/>
              <a:t>12/25/2024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2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E560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pc="-110" dirty="0"/>
              <a:t>12/25/2024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2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E560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pc="-110" dirty="0"/>
              <a:t>12/25/2024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2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E560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pc="-110" dirty="0"/>
              <a:t>12/25/2024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2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pc="-110" dirty="0"/>
              <a:t>12/25/2024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2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862" y="728726"/>
            <a:ext cx="10592435" cy="0"/>
          </a:xfrm>
          <a:custGeom>
            <a:avLst/>
            <a:gdLst/>
            <a:ahLst/>
            <a:cxnLst/>
            <a:rect l="l" t="t" r="r" b="b"/>
            <a:pathLst>
              <a:path w="10592435">
                <a:moveTo>
                  <a:pt x="0" y="0"/>
                </a:moveTo>
                <a:lnTo>
                  <a:pt x="10591863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04862" y="6148387"/>
            <a:ext cx="10592435" cy="0"/>
          </a:xfrm>
          <a:custGeom>
            <a:avLst/>
            <a:gdLst/>
            <a:ahLst/>
            <a:cxnLst/>
            <a:rect l="l" t="t" r="r" b="b"/>
            <a:pathLst>
              <a:path w="10592435">
                <a:moveTo>
                  <a:pt x="0" y="0"/>
                </a:moveTo>
                <a:lnTo>
                  <a:pt x="1059186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1332" y="947038"/>
            <a:ext cx="5259070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E560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0257" y="1584261"/>
            <a:ext cx="10415905" cy="4069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321290" y="6447382"/>
            <a:ext cx="573404" cy="191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pc="-110" dirty="0"/>
              <a:t>12/25/2024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4054" y="6405631"/>
            <a:ext cx="205740" cy="290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2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0" spc="555" dirty="0">
                <a:solidFill>
                  <a:srgbClr val="000000"/>
                </a:solidFill>
                <a:latin typeface="Cambria"/>
                <a:cs typeface="Cambria"/>
              </a:rPr>
              <a:t>BLINK</a:t>
            </a:r>
            <a:r>
              <a:rPr sz="8000" spc="555" dirty="0">
                <a:solidFill>
                  <a:srgbClr val="256D01"/>
                </a:solidFill>
                <a:latin typeface="Cambria"/>
                <a:cs typeface="Cambria"/>
              </a:rPr>
              <a:t>IT</a:t>
            </a:r>
            <a:endParaRPr sz="80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sz="3950" spc="170" dirty="0">
                <a:latin typeface="Cambria"/>
                <a:cs typeface="Cambria"/>
              </a:rPr>
              <a:t>SALES</a:t>
            </a:r>
            <a:r>
              <a:rPr sz="3950" spc="229" dirty="0">
                <a:latin typeface="Cambria"/>
                <a:cs typeface="Cambria"/>
              </a:rPr>
              <a:t> </a:t>
            </a:r>
            <a:r>
              <a:rPr sz="3950" spc="130" dirty="0">
                <a:latin typeface="Cambria"/>
                <a:cs typeface="Cambria"/>
              </a:rPr>
              <a:t>ANALYSIS </a:t>
            </a:r>
            <a:r>
              <a:rPr sz="3950" spc="200" dirty="0">
                <a:latin typeface="Cambria"/>
                <a:cs typeface="Cambria"/>
              </a:rPr>
              <a:t>DASHBOARD</a:t>
            </a:r>
            <a:endParaRPr sz="395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5774" y="1514411"/>
            <a:ext cx="3415919" cy="48740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E32C-9BF8-9ECE-A14F-2A206D597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A8D6258-6FEA-1908-92CE-B4D4317B055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4800" y="1449767"/>
            <a:ext cx="7239000" cy="47262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</a:rPr>
              <a:t>Presented by:</a:t>
            </a: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r>
              <a:rPr lang="en-US" sz="1800" dirty="0">
                <a:solidFill>
                  <a:srgbClr val="FF0000"/>
                </a:solidFill>
                <a:latin typeface="+mn-lt"/>
              </a:rPr>
              <a:t>Amit Kumar</a:t>
            </a: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</a:rPr>
              <a:t>Project: Data Analytics Capstone 01</a:t>
            </a: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</a:rPr>
              <a:t>Tools Used:</a:t>
            </a: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</a:rPr>
              <a:t>Power BI | DAX | Data Modeling</a:t>
            </a: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</a:rPr>
              <a:t>Description: Sales Analysis Dashboard</a:t>
            </a: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br>
              <a:rPr lang="en-US" sz="1800" dirty="0">
                <a:solidFill>
                  <a:schemeClr val="tx1"/>
                </a:solidFill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latin typeface="+mn-lt"/>
              </a:rPr>
              <a:t>An interactive Power BI dashboard created to analyze Blinkit grocery sales data and derive actionable business insights.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endParaRPr sz="1800" dirty="0">
              <a:latin typeface="+mn-lt"/>
              <a:cs typeface="Cambria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31F4385E-B2E8-CAFB-50BD-11339073B95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5774" y="1514411"/>
            <a:ext cx="3415919" cy="487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79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10" dirty="0"/>
              <a:t>INTRODUCTION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02284" y="1717674"/>
            <a:ext cx="10913745" cy="3211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Blinkit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Sales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Power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</a:t>
            </a:r>
            <a:r>
              <a:rPr sz="2600" spc="-10" dirty="0">
                <a:latin typeface="Calibri"/>
                <a:cs typeface="Calibri"/>
              </a:rPr>
              <a:t> project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aims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insightful</a:t>
            </a:r>
            <a:r>
              <a:rPr sz="2600" spc="-25" dirty="0">
                <a:latin typeface="Calibri"/>
                <a:cs typeface="Calibri"/>
              </a:rPr>
              <a:t> and </a:t>
            </a:r>
            <a:r>
              <a:rPr sz="2600" spc="-10" dirty="0">
                <a:latin typeface="Calibri"/>
                <a:cs typeface="Calibri"/>
              </a:rPr>
              <a:t>interactive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dashboard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analyzing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sales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performance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across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dimensions.</a:t>
            </a:r>
            <a:endParaRPr sz="2600" dirty="0">
              <a:latin typeface="Calibri"/>
              <a:cs typeface="Calibri"/>
            </a:endParaRPr>
          </a:p>
          <a:p>
            <a:pPr marL="12700" marR="155575">
              <a:lnSpc>
                <a:spcPct val="101200"/>
              </a:lnSpc>
              <a:spcBef>
                <a:spcPts val="3075"/>
              </a:spcBef>
            </a:pPr>
            <a:r>
              <a:rPr sz="2600" dirty="0">
                <a:latin typeface="Calibri"/>
                <a:cs typeface="Calibri"/>
              </a:rPr>
              <a:t>This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project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facilitate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data-</a:t>
            </a:r>
            <a:r>
              <a:rPr sz="2600" dirty="0">
                <a:latin typeface="Calibri"/>
                <a:cs typeface="Calibri"/>
              </a:rPr>
              <a:t>driven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decision-</a:t>
            </a:r>
            <a:r>
              <a:rPr sz="2600" dirty="0">
                <a:latin typeface="Calibri"/>
                <a:cs typeface="Calibri"/>
              </a:rPr>
              <a:t>making by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visualizing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metrics, </a:t>
            </a:r>
            <a:r>
              <a:rPr sz="2600" dirty="0">
                <a:latin typeface="Calibri"/>
                <a:cs typeface="Calibri"/>
              </a:rPr>
              <a:t>identifying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trends,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uncovering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actionable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insights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within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Blinkit's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sales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 dirty="0">
              <a:latin typeface="Calibri"/>
              <a:cs typeface="Calibri"/>
            </a:endParaRPr>
          </a:p>
          <a:p>
            <a:pPr marL="12700" marR="1169670">
              <a:lnSpc>
                <a:spcPct val="101099"/>
              </a:lnSpc>
              <a:spcBef>
                <a:spcPts val="3075"/>
              </a:spcBef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project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empower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stakeholders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valuable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insights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sales performance,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enabling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decision-</a:t>
            </a:r>
            <a:r>
              <a:rPr sz="2600" dirty="0">
                <a:latin typeface="Calibri"/>
                <a:cs typeface="Calibri"/>
              </a:rPr>
              <a:t>making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strategic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planning.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7800" y="2209800"/>
            <a:ext cx="2743200" cy="2239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0257" y="1738184"/>
            <a:ext cx="8103234" cy="3430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167640" indent="-229235">
              <a:lnSpc>
                <a:spcPct val="1095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256D01"/>
                </a:solidFill>
                <a:latin typeface="Calibri"/>
                <a:cs typeface="Calibri"/>
              </a:rPr>
              <a:t>Visualize</a:t>
            </a:r>
            <a:r>
              <a:rPr sz="2000" b="1" spc="-85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6D01"/>
                </a:solidFill>
                <a:latin typeface="Calibri"/>
                <a:cs typeface="Calibri"/>
              </a:rPr>
              <a:t>Sales</a:t>
            </a:r>
            <a:r>
              <a:rPr sz="2000" b="1" spc="-25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6D01"/>
                </a:solidFill>
                <a:latin typeface="Calibri"/>
                <a:cs typeface="Calibri"/>
              </a:rPr>
              <a:t>Data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comprehensive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dashboard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visualizes </a:t>
            </a:r>
            <a:r>
              <a:rPr sz="2000" dirty="0">
                <a:latin typeface="Calibri"/>
                <a:cs typeface="Calibri"/>
              </a:rPr>
              <a:t>sales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performance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metrics,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sales,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sales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growth,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product performance.</a:t>
            </a:r>
            <a:endParaRPr sz="2000">
              <a:latin typeface="Calibri"/>
              <a:cs typeface="Calibri"/>
            </a:endParaRPr>
          </a:p>
          <a:p>
            <a:pPr marL="241300" marR="41275" indent="-229235">
              <a:lnSpc>
                <a:spcPct val="10950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256D01"/>
                </a:solidFill>
                <a:latin typeface="Calibri"/>
                <a:cs typeface="Calibri"/>
              </a:rPr>
              <a:t>Identify</a:t>
            </a:r>
            <a:r>
              <a:rPr sz="2000" b="1" spc="-45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56D01"/>
                </a:solidFill>
                <a:latin typeface="Calibri"/>
                <a:cs typeface="Calibri"/>
              </a:rPr>
              <a:t>Trends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Analyze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sales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trends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understand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seasonal patterns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customer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behavior.</a:t>
            </a:r>
            <a:endParaRPr sz="2000">
              <a:latin typeface="Calibri"/>
              <a:cs typeface="Calibri"/>
            </a:endParaRPr>
          </a:p>
          <a:p>
            <a:pPr marL="241300" marR="5080" indent="-229235">
              <a:lnSpc>
                <a:spcPct val="10960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256D01"/>
                </a:solidFill>
                <a:latin typeface="Calibri"/>
                <a:cs typeface="Calibri"/>
              </a:rPr>
              <a:t>Segment</a:t>
            </a:r>
            <a:r>
              <a:rPr sz="2000" b="1" spc="-60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6D01"/>
                </a:solidFill>
                <a:latin typeface="Calibri"/>
                <a:cs typeface="Calibri"/>
              </a:rPr>
              <a:t>Analysis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Enable </a:t>
            </a:r>
            <a:r>
              <a:rPr sz="2000" spc="-10" dirty="0">
                <a:latin typeface="Calibri"/>
                <a:cs typeface="Calibri"/>
              </a:rPr>
              <a:t>segmentation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geography,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product categories,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customer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demographics.</a:t>
            </a:r>
            <a:endParaRPr sz="2000">
              <a:latin typeface="Calibri"/>
              <a:cs typeface="Calibri"/>
            </a:endParaRPr>
          </a:p>
          <a:p>
            <a:pPr marL="241300" marR="292735" indent="-229235">
              <a:lnSpc>
                <a:spcPct val="112599"/>
              </a:lnSpc>
              <a:spcBef>
                <a:spcPts val="9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256D01"/>
                </a:solidFill>
                <a:latin typeface="Calibri"/>
                <a:cs typeface="Calibri"/>
              </a:rPr>
              <a:t>Performance</a:t>
            </a:r>
            <a:r>
              <a:rPr sz="2000" b="1" spc="-80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6D01"/>
                </a:solidFill>
                <a:latin typeface="Calibri"/>
                <a:cs typeface="Calibri"/>
              </a:rPr>
              <a:t>Benchmarking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against </a:t>
            </a:r>
            <a:r>
              <a:rPr sz="2000" dirty="0">
                <a:latin typeface="Calibri"/>
                <a:cs typeface="Calibri"/>
              </a:rPr>
              <a:t>historical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predefined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KPIs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evaluate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business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EEE36-2A59-3B6D-B193-802B8F6D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029167A-FC1F-8C71-DB79-DED00156BD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7800" y="2209800"/>
            <a:ext cx="2743200" cy="22396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AFB342F3-4664-14B6-140C-F292ED4E1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Dataset Overview</a:t>
            </a:r>
            <a:endParaRPr spc="-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AFB596-3E8E-1222-CF25-09C9EA64819B}"/>
              </a:ext>
            </a:extLst>
          </p:cNvPr>
          <p:cNvSpPr txBox="1"/>
          <p:nvPr/>
        </p:nvSpPr>
        <p:spPr>
          <a:xfrm>
            <a:off x="762000" y="1579498"/>
            <a:ext cx="74234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Data Set Used : </a:t>
            </a:r>
            <a:r>
              <a:rPr lang="en-IN" dirty="0" err="1"/>
              <a:t>Blinkit</a:t>
            </a:r>
            <a:r>
              <a:rPr lang="en-IN" dirty="0"/>
              <a:t> Grocery Dataset (Kaggle)</a:t>
            </a:r>
            <a:endParaRPr lang="en-US" b="1" dirty="0">
              <a:solidFill>
                <a:schemeClr val="tx1"/>
              </a:solidFill>
              <a:latin typeface="+mn-lt"/>
            </a:endParaRPr>
          </a:p>
          <a:p>
            <a:r>
              <a:rPr lang="en-US" b="1" dirty="0">
                <a:solidFill>
                  <a:srgbClr val="FF0000"/>
                </a:solidFill>
                <a:latin typeface="+mn-lt"/>
              </a:rPr>
              <a:t>Key attributes include:</a:t>
            </a:r>
          </a:p>
          <a:p>
            <a:r>
              <a:rPr lang="en-US" dirty="0">
                <a:latin typeface="+mn-lt"/>
              </a:rPr>
              <a:t>Item Identifier</a:t>
            </a:r>
          </a:p>
          <a:p>
            <a:r>
              <a:rPr lang="en-US" dirty="0">
                <a:latin typeface="+mn-lt"/>
              </a:rPr>
              <a:t>Item Type</a:t>
            </a:r>
          </a:p>
          <a:p>
            <a:r>
              <a:rPr lang="en-US" dirty="0">
                <a:latin typeface="+mn-lt"/>
              </a:rPr>
              <a:t>Item Fat Content</a:t>
            </a:r>
          </a:p>
          <a:p>
            <a:r>
              <a:rPr lang="en-US" dirty="0">
                <a:latin typeface="+mn-lt"/>
              </a:rPr>
              <a:t>Item Visibility</a:t>
            </a:r>
          </a:p>
          <a:p>
            <a:r>
              <a:rPr lang="en-US" dirty="0">
                <a:latin typeface="+mn-lt"/>
              </a:rPr>
              <a:t>Item Weight</a:t>
            </a:r>
          </a:p>
          <a:p>
            <a:r>
              <a:rPr lang="en-US" dirty="0">
                <a:latin typeface="+mn-lt"/>
              </a:rPr>
              <a:t>Outlet Identifier</a:t>
            </a:r>
          </a:p>
          <a:p>
            <a:r>
              <a:rPr lang="en-US" dirty="0">
                <a:latin typeface="+mn-lt"/>
              </a:rPr>
              <a:t>Outlet Size</a:t>
            </a:r>
          </a:p>
          <a:p>
            <a:r>
              <a:rPr lang="en-US" dirty="0">
                <a:latin typeface="+mn-lt"/>
              </a:rPr>
              <a:t>Outlet Location Type</a:t>
            </a:r>
          </a:p>
          <a:p>
            <a:r>
              <a:rPr lang="en-US" dirty="0">
                <a:latin typeface="+mn-lt"/>
              </a:rPr>
              <a:t>Outlet Establishment Year</a:t>
            </a:r>
          </a:p>
          <a:p>
            <a:r>
              <a:rPr lang="en-US" dirty="0">
                <a:latin typeface="+mn-lt"/>
              </a:rPr>
              <a:t>Sales</a:t>
            </a:r>
          </a:p>
          <a:p>
            <a:r>
              <a:rPr lang="en-US" dirty="0">
                <a:latin typeface="+mn-lt"/>
              </a:rPr>
              <a:t>Rating</a:t>
            </a:r>
          </a:p>
          <a:p>
            <a:r>
              <a:rPr lang="en-US" dirty="0">
                <a:latin typeface="+mn-lt"/>
              </a:rPr>
              <a:t>Total records analyzed:</a:t>
            </a:r>
          </a:p>
          <a:p>
            <a:r>
              <a:rPr lang="en-US" b="1" dirty="0">
                <a:latin typeface="+mn-lt"/>
              </a:rPr>
              <a:t>8523 product entries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2517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7775" y="1171575"/>
            <a:ext cx="3324225" cy="4114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17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0257" y="1604418"/>
            <a:ext cx="9159240" cy="36220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20" dirty="0">
                <a:solidFill>
                  <a:srgbClr val="256D01"/>
                </a:solidFill>
                <a:latin typeface="Calibri"/>
                <a:cs typeface="Calibri"/>
              </a:rPr>
              <a:t>Interactive</a:t>
            </a:r>
            <a:r>
              <a:rPr sz="2400" b="1" spc="-90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6D01"/>
                </a:solidFill>
                <a:latin typeface="Calibri"/>
                <a:cs typeface="Calibri"/>
              </a:rPr>
              <a:t>Dashboards</a:t>
            </a:r>
            <a:r>
              <a:rPr sz="2400" dirty="0">
                <a:solidFill>
                  <a:srgbClr val="256D01"/>
                </a:solidFill>
                <a:latin typeface="Calibri"/>
                <a:cs typeface="Calibri"/>
              </a:rPr>
              <a:t>:</a:t>
            </a:r>
            <a:r>
              <a:rPr sz="2400" spc="-75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User-</a:t>
            </a:r>
            <a:r>
              <a:rPr sz="2400" dirty="0">
                <a:latin typeface="Calibri"/>
                <a:cs typeface="Calibri"/>
              </a:rPr>
              <a:t>friendly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interface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clickable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75"/>
              </a:spcBef>
            </a:pPr>
            <a:r>
              <a:rPr sz="2400" dirty="0">
                <a:latin typeface="Calibri"/>
                <a:cs typeface="Calibri"/>
              </a:rPr>
              <a:t>deeper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solidFill>
                  <a:srgbClr val="256D01"/>
                </a:solidFill>
                <a:latin typeface="Calibri"/>
                <a:cs typeface="Calibri"/>
              </a:rPr>
              <a:t>Customizable</a:t>
            </a:r>
            <a:r>
              <a:rPr sz="2400" b="1" spc="-60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6D01"/>
                </a:solidFill>
                <a:latin typeface="Calibri"/>
                <a:cs typeface="Calibri"/>
              </a:rPr>
              <a:t>Reports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generate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export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tailored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reports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50"/>
              </a:spcBef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user-</a:t>
            </a:r>
            <a:r>
              <a:rPr sz="2400" dirty="0">
                <a:latin typeface="Calibri"/>
                <a:cs typeface="Calibri"/>
              </a:rPr>
              <a:t>selected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criteria.</a:t>
            </a:r>
            <a:endParaRPr sz="2400" dirty="0">
              <a:latin typeface="Calibri"/>
              <a:cs typeface="Calibri"/>
            </a:endParaRPr>
          </a:p>
          <a:p>
            <a:pPr marL="239395" marR="294640" indent="-227329">
              <a:lnSpc>
                <a:spcPct val="112200"/>
              </a:lnSpc>
              <a:spcBef>
                <a:spcPts val="9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solidFill>
                  <a:srgbClr val="256D01"/>
                </a:solidFill>
                <a:latin typeface="Calibri"/>
                <a:cs typeface="Calibri"/>
              </a:rPr>
              <a:t>Visualizations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charts, 	</a:t>
            </a:r>
            <a:r>
              <a:rPr sz="2400" dirty="0">
                <a:latin typeface="Calibri"/>
                <a:cs typeface="Calibri"/>
              </a:rPr>
              <a:t>line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charts,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0" dirty="0">
                <a:latin typeface="Calibri"/>
                <a:cs typeface="Calibri"/>
              </a:rPr>
              <a:t> effectively.</a:t>
            </a:r>
            <a:endParaRPr sz="2400" dirty="0">
              <a:latin typeface="Calibri"/>
              <a:cs typeface="Calibri"/>
            </a:endParaRPr>
          </a:p>
          <a:p>
            <a:pPr marL="239395" marR="567055" indent="-227329">
              <a:lnSpc>
                <a:spcPct val="1095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solidFill>
                  <a:srgbClr val="256D01"/>
                </a:solidFill>
                <a:latin typeface="Calibri"/>
                <a:cs typeface="Calibri"/>
              </a:rPr>
              <a:t>Filters</a:t>
            </a:r>
            <a:r>
              <a:rPr sz="2400" b="1" spc="-70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6D01"/>
                </a:solidFill>
                <a:latin typeface="Calibri"/>
                <a:cs typeface="Calibri"/>
              </a:rPr>
              <a:t>and</a:t>
            </a:r>
            <a:r>
              <a:rPr sz="2400" b="1" spc="-30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6D01"/>
                </a:solidFill>
                <a:latin typeface="Calibri"/>
                <a:cs typeface="Calibri"/>
              </a:rPr>
              <a:t>Slicers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filter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ranges,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 	categories,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regions,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relevant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dimensions.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850" y="1457325"/>
            <a:ext cx="3867150" cy="3848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245" dirty="0"/>
              <a:t> </a:t>
            </a:r>
            <a:r>
              <a:rPr spc="-10" dirty="0"/>
              <a:t>PHASES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9622" y="1717194"/>
            <a:ext cx="7402830" cy="40322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solidFill>
                  <a:srgbClr val="256D01"/>
                </a:solidFill>
                <a:latin typeface="Calibri"/>
                <a:cs typeface="Calibri"/>
              </a:rPr>
              <a:t>Requirement</a:t>
            </a:r>
            <a:r>
              <a:rPr sz="2400" b="1" spc="-95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6D01"/>
                </a:solidFill>
                <a:latin typeface="Calibri"/>
                <a:cs typeface="Calibri"/>
              </a:rPr>
              <a:t>Gathering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Download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75"/>
              </a:spcBef>
            </a:pPr>
            <a:r>
              <a:rPr sz="2400" spc="-10" dirty="0">
                <a:latin typeface="Calibri"/>
                <a:cs typeface="Calibri"/>
              </a:rPr>
              <a:t>Kaggle.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256D01"/>
                </a:solidFill>
                <a:latin typeface="Calibri"/>
                <a:cs typeface="Calibri"/>
              </a:rPr>
              <a:t>Data</a:t>
            </a:r>
            <a:r>
              <a:rPr sz="2400" b="1" spc="-70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56D01"/>
                </a:solidFill>
                <a:latin typeface="Calibri"/>
                <a:cs typeface="Calibri"/>
              </a:rPr>
              <a:t>Preparation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Extract,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50"/>
              </a:spcBef>
            </a:pP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sources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accuracy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consistency.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256D01"/>
                </a:solidFill>
                <a:latin typeface="Calibri"/>
                <a:cs typeface="Calibri"/>
              </a:rPr>
              <a:t>KPI:</a:t>
            </a:r>
            <a:r>
              <a:rPr sz="2400" b="1" spc="-45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useful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insightful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KPIs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according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50"/>
              </a:spcBef>
            </a:pP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requirement.</a:t>
            </a:r>
            <a:endParaRPr sz="2400">
              <a:latin typeface="Calibri"/>
              <a:cs typeface="Calibri"/>
            </a:endParaRPr>
          </a:p>
          <a:p>
            <a:pPr marL="239395" marR="203200" indent="-227329" algn="just">
              <a:lnSpc>
                <a:spcPct val="110800"/>
              </a:lnSpc>
              <a:spcBef>
                <a:spcPts val="9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solidFill>
                  <a:srgbClr val="256D01"/>
                </a:solidFill>
                <a:latin typeface="Calibri"/>
                <a:cs typeface="Calibri"/>
              </a:rPr>
              <a:t>Dashboard</a:t>
            </a:r>
            <a:r>
              <a:rPr sz="2400" b="1" spc="-95" dirty="0">
                <a:solidFill>
                  <a:srgbClr val="256D0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6D01"/>
                </a:solidFill>
                <a:latin typeface="Calibri"/>
                <a:cs typeface="Calibri"/>
              </a:rPr>
              <a:t>Development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Build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dashboard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interactive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features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visualizations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requirements.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4135" y="6546850"/>
            <a:ext cx="768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latin typeface="Georgia"/>
                <a:cs typeface="Georgia"/>
              </a:rPr>
              <a:t>.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30"/>
              </a:spcBef>
            </a:pPr>
            <a:r>
              <a:rPr dirty="0"/>
              <a:t>DAX</a:t>
            </a:r>
            <a:r>
              <a:rPr spc="80" dirty="0"/>
              <a:t> </a:t>
            </a:r>
            <a:r>
              <a:rPr spc="-10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0257" y="1836102"/>
            <a:ext cx="10237470" cy="353567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3299"/>
              </a:lnSpc>
              <a:spcBef>
                <a:spcPts val="40"/>
              </a:spcBef>
            </a:pPr>
            <a:r>
              <a:rPr sz="2150" b="1" dirty="0">
                <a:latin typeface="Calibri"/>
                <a:cs typeface="Calibri"/>
              </a:rPr>
              <a:t>Metrics</a:t>
            </a:r>
            <a:r>
              <a:rPr sz="2150" b="1" spc="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=</a:t>
            </a:r>
            <a:r>
              <a:rPr sz="18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This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matrix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slicer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that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allow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users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filter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analyze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all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relevant</a:t>
            </a:r>
            <a:r>
              <a:rPr sz="2150" spc="-10" dirty="0">
                <a:latin typeface="Calibri"/>
                <a:cs typeface="Calibri"/>
              </a:rPr>
              <a:t> fields </a:t>
            </a:r>
            <a:r>
              <a:rPr sz="2150" dirty="0">
                <a:latin typeface="Calibri"/>
                <a:cs typeface="Calibri"/>
              </a:rPr>
              <a:t>simultaneously,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ensuring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comprehensive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view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facilitating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deeper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insights </a:t>
            </a:r>
            <a:r>
              <a:rPr sz="2150" dirty="0">
                <a:latin typeface="Calibri"/>
                <a:cs typeface="Calibri"/>
              </a:rPr>
              <a:t>across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different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dimensions.</a:t>
            </a:r>
            <a:endParaRPr sz="2150">
              <a:latin typeface="Calibri"/>
              <a:cs typeface="Calibri"/>
            </a:endParaRPr>
          </a:p>
          <a:p>
            <a:pPr marL="174625">
              <a:lnSpc>
                <a:spcPct val="100000"/>
              </a:lnSpc>
              <a:spcBef>
                <a:spcPts val="1025"/>
              </a:spcBef>
            </a:pPr>
            <a:r>
              <a:rPr sz="1850" spc="-50" dirty="0">
                <a:latin typeface="Trebuchet MS"/>
                <a:cs typeface="Trebuchet MS"/>
              </a:rPr>
              <a:t>{</a:t>
            </a:r>
            <a:endParaRPr sz="1850">
              <a:latin typeface="Trebuchet MS"/>
              <a:cs typeface="Trebuchet MS"/>
            </a:endParaRPr>
          </a:p>
          <a:p>
            <a:pPr marL="196850" marR="3886835">
              <a:lnSpc>
                <a:spcPct val="147700"/>
              </a:lnSpc>
              <a:spcBef>
                <a:spcPts val="25"/>
              </a:spcBef>
            </a:pPr>
            <a:r>
              <a:rPr sz="1850" spc="-105" dirty="0">
                <a:latin typeface="Trebuchet MS"/>
                <a:cs typeface="Trebuchet MS"/>
              </a:rPr>
              <a:t>("Total</a:t>
            </a:r>
            <a:r>
              <a:rPr sz="1850" spc="-140" dirty="0">
                <a:latin typeface="Trebuchet MS"/>
                <a:cs typeface="Trebuchet MS"/>
              </a:rPr>
              <a:t> </a:t>
            </a:r>
            <a:r>
              <a:rPr sz="1850" spc="-60" dirty="0">
                <a:latin typeface="Trebuchet MS"/>
                <a:cs typeface="Trebuchet MS"/>
              </a:rPr>
              <a:t>Sales",</a:t>
            </a:r>
            <a:r>
              <a:rPr sz="1850" spc="-14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NAMEOF('BlinkIT</a:t>
            </a:r>
            <a:r>
              <a:rPr sz="1850" spc="-150" dirty="0">
                <a:latin typeface="Trebuchet MS"/>
                <a:cs typeface="Trebuchet MS"/>
              </a:rPr>
              <a:t> </a:t>
            </a:r>
            <a:r>
              <a:rPr sz="1850" spc="-70" dirty="0">
                <a:latin typeface="Trebuchet MS"/>
                <a:cs typeface="Trebuchet MS"/>
              </a:rPr>
              <a:t>Grocery</a:t>
            </a:r>
            <a:r>
              <a:rPr sz="1850" spc="-114" dirty="0">
                <a:latin typeface="Trebuchet MS"/>
                <a:cs typeface="Trebuchet MS"/>
              </a:rPr>
              <a:t> </a:t>
            </a:r>
            <a:r>
              <a:rPr sz="1850" spc="-90" dirty="0">
                <a:latin typeface="Trebuchet MS"/>
                <a:cs typeface="Trebuchet MS"/>
              </a:rPr>
              <a:t>Data'[Total</a:t>
            </a:r>
            <a:r>
              <a:rPr sz="1850" spc="-140" dirty="0">
                <a:latin typeface="Trebuchet MS"/>
                <a:cs typeface="Trebuchet MS"/>
              </a:rPr>
              <a:t> </a:t>
            </a:r>
            <a:r>
              <a:rPr sz="1850" spc="-50" dirty="0">
                <a:latin typeface="Trebuchet MS"/>
                <a:cs typeface="Trebuchet MS"/>
              </a:rPr>
              <a:t>Sales]),</a:t>
            </a:r>
            <a:r>
              <a:rPr sz="1850" spc="-14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0), </a:t>
            </a:r>
            <a:r>
              <a:rPr sz="1850" spc="-70" dirty="0">
                <a:latin typeface="Trebuchet MS"/>
                <a:cs typeface="Trebuchet MS"/>
              </a:rPr>
              <a:t>("Avg</a:t>
            </a:r>
            <a:r>
              <a:rPr sz="1850" spc="-130" dirty="0">
                <a:latin typeface="Trebuchet MS"/>
                <a:cs typeface="Trebuchet MS"/>
              </a:rPr>
              <a:t> </a:t>
            </a:r>
            <a:r>
              <a:rPr sz="1850" spc="-60" dirty="0">
                <a:latin typeface="Trebuchet MS"/>
                <a:cs typeface="Trebuchet MS"/>
              </a:rPr>
              <a:t>Sales",</a:t>
            </a:r>
            <a:r>
              <a:rPr sz="1850" spc="-14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NAMEOF('BlinkIT</a:t>
            </a:r>
            <a:r>
              <a:rPr sz="1850" spc="-155" dirty="0">
                <a:latin typeface="Trebuchet MS"/>
                <a:cs typeface="Trebuchet MS"/>
              </a:rPr>
              <a:t> </a:t>
            </a:r>
            <a:r>
              <a:rPr sz="1850" spc="-70" dirty="0">
                <a:latin typeface="Trebuchet MS"/>
                <a:cs typeface="Trebuchet MS"/>
              </a:rPr>
              <a:t>Grocery</a:t>
            </a:r>
            <a:r>
              <a:rPr sz="1850" spc="-114" dirty="0">
                <a:latin typeface="Trebuchet MS"/>
                <a:cs typeface="Trebuchet MS"/>
              </a:rPr>
              <a:t> </a:t>
            </a:r>
            <a:r>
              <a:rPr sz="1850" spc="-60" dirty="0">
                <a:latin typeface="Trebuchet MS"/>
                <a:cs typeface="Trebuchet MS"/>
              </a:rPr>
              <a:t>Data'[Avg</a:t>
            </a:r>
            <a:r>
              <a:rPr sz="1850" spc="-130" dirty="0">
                <a:latin typeface="Trebuchet MS"/>
                <a:cs typeface="Trebuchet MS"/>
              </a:rPr>
              <a:t> </a:t>
            </a:r>
            <a:r>
              <a:rPr sz="1850" spc="-55" dirty="0">
                <a:latin typeface="Trebuchet MS"/>
                <a:cs typeface="Trebuchet MS"/>
              </a:rPr>
              <a:t>Sales]),</a:t>
            </a:r>
            <a:r>
              <a:rPr sz="1850" spc="-14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1), </a:t>
            </a:r>
            <a:r>
              <a:rPr sz="1850" spc="-70" dirty="0">
                <a:latin typeface="Trebuchet MS"/>
                <a:cs typeface="Trebuchet MS"/>
              </a:rPr>
              <a:t>("Avg</a:t>
            </a:r>
            <a:r>
              <a:rPr sz="1850" spc="-114" dirty="0">
                <a:latin typeface="Trebuchet MS"/>
                <a:cs typeface="Trebuchet MS"/>
              </a:rPr>
              <a:t> Rating",</a:t>
            </a:r>
            <a:r>
              <a:rPr sz="1850" spc="-13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NAMEOF('BlinkIT</a:t>
            </a:r>
            <a:r>
              <a:rPr sz="1850" spc="-140" dirty="0">
                <a:latin typeface="Trebuchet MS"/>
                <a:cs typeface="Trebuchet MS"/>
              </a:rPr>
              <a:t> </a:t>
            </a:r>
            <a:r>
              <a:rPr sz="1850" spc="-70" dirty="0">
                <a:latin typeface="Trebuchet MS"/>
                <a:cs typeface="Trebuchet MS"/>
              </a:rPr>
              <a:t>Grocery</a:t>
            </a:r>
            <a:r>
              <a:rPr sz="1850" spc="-100" dirty="0">
                <a:latin typeface="Trebuchet MS"/>
                <a:cs typeface="Trebuchet MS"/>
              </a:rPr>
              <a:t> </a:t>
            </a:r>
            <a:r>
              <a:rPr sz="1850" spc="-60" dirty="0">
                <a:latin typeface="Trebuchet MS"/>
                <a:cs typeface="Trebuchet MS"/>
              </a:rPr>
              <a:t>Data'[Avg</a:t>
            </a:r>
            <a:r>
              <a:rPr sz="1850" spc="-114" dirty="0">
                <a:latin typeface="Trebuchet MS"/>
                <a:cs typeface="Trebuchet MS"/>
              </a:rPr>
              <a:t> </a:t>
            </a:r>
            <a:r>
              <a:rPr sz="1850" spc="-105" dirty="0">
                <a:latin typeface="Trebuchet MS"/>
                <a:cs typeface="Trebuchet MS"/>
              </a:rPr>
              <a:t>Rating]),</a:t>
            </a:r>
            <a:r>
              <a:rPr sz="1850" spc="-13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2), </a:t>
            </a:r>
            <a:r>
              <a:rPr sz="1850" dirty="0">
                <a:latin typeface="Trebuchet MS"/>
                <a:cs typeface="Trebuchet MS"/>
              </a:rPr>
              <a:t>("No</a:t>
            </a:r>
            <a:r>
              <a:rPr sz="1850" spc="-130" dirty="0">
                <a:latin typeface="Trebuchet MS"/>
                <a:cs typeface="Trebuchet MS"/>
              </a:rPr>
              <a:t> </a:t>
            </a:r>
            <a:r>
              <a:rPr sz="1850" spc="-95" dirty="0">
                <a:latin typeface="Trebuchet MS"/>
                <a:cs typeface="Trebuchet MS"/>
              </a:rPr>
              <a:t>of</a:t>
            </a:r>
            <a:r>
              <a:rPr sz="1850" spc="-140" dirty="0">
                <a:latin typeface="Trebuchet MS"/>
                <a:cs typeface="Trebuchet MS"/>
              </a:rPr>
              <a:t> </a:t>
            </a:r>
            <a:r>
              <a:rPr sz="1850" spc="-95" dirty="0">
                <a:latin typeface="Trebuchet MS"/>
                <a:cs typeface="Trebuchet MS"/>
              </a:rPr>
              <a:t>Items",</a:t>
            </a:r>
            <a:r>
              <a:rPr sz="1850" spc="-150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NAMEOF('BlinkIT</a:t>
            </a:r>
            <a:r>
              <a:rPr sz="1850" spc="-165" dirty="0">
                <a:latin typeface="Trebuchet MS"/>
                <a:cs typeface="Trebuchet MS"/>
              </a:rPr>
              <a:t> </a:t>
            </a:r>
            <a:r>
              <a:rPr sz="1850" spc="-70" dirty="0">
                <a:latin typeface="Trebuchet MS"/>
                <a:cs typeface="Trebuchet MS"/>
              </a:rPr>
              <a:t>Grocery</a:t>
            </a:r>
            <a:r>
              <a:rPr sz="1850" spc="-125" dirty="0">
                <a:latin typeface="Trebuchet MS"/>
                <a:cs typeface="Trebuchet MS"/>
              </a:rPr>
              <a:t> </a:t>
            </a:r>
            <a:r>
              <a:rPr sz="1850" spc="-30" dirty="0">
                <a:latin typeface="Trebuchet MS"/>
                <a:cs typeface="Trebuchet MS"/>
              </a:rPr>
              <a:t>Data'[No</a:t>
            </a:r>
            <a:r>
              <a:rPr sz="1850" spc="-125" dirty="0">
                <a:latin typeface="Trebuchet MS"/>
                <a:cs typeface="Trebuchet MS"/>
              </a:rPr>
              <a:t> </a:t>
            </a:r>
            <a:r>
              <a:rPr sz="1850" spc="-95" dirty="0">
                <a:latin typeface="Trebuchet MS"/>
                <a:cs typeface="Trebuchet MS"/>
              </a:rPr>
              <a:t>of</a:t>
            </a:r>
            <a:r>
              <a:rPr sz="1850" spc="-140" dirty="0">
                <a:latin typeface="Trebuchet MS"/>
                <a:cs typeface="Trebuchet MS"/>
              </a:rPr>
              <a:t> </a:t>
            </a:r>
            <a:r>
              <a:rPr sz="1850" spc="-95" dirty="0">
                <a:latin typeface="Trebuchet MS"/>
                <a:cs typeface="Trebuchet MS"/>
              </a:rPr>
              <a:t>Items]),</a:t>
            </a:r>
            <a:r>
              <a:rPr sz="1850" spc="-155" dirty="0">
                <a:latin typeface="Trebuchet MS"/>
                <a:cs typeface="Trebuchet MS"/>
              </a:rPr>
              <a:t> </a:t>
            </a:r>
            <a:r>
              <a:rPr sz="1850" spc="-25" dirty="0">
                <a:latin typeface="Trebuchet MS"/>
                <a:cs typeface="Trebuchet MS"/>
              </a:rPr>
              <a:t>3)</a:t>
            </a:r>
            <a:endParaRPr sz="1850">
              <a:latin typeface="Trebuchet MS"/>
              <a:cs typeface="Trebuchet MS"/>
            </a:endParaRPr>
          </a:p>
          <a:p>
            <a:pPr marL="657225">
              <a:lnSpc>
                <a:spcPct val="100000"/>
              </a:lnSpc>
              <a:spcBef>
                <a:spcPts val="1085"/>
              </a:spcBef>
            </a:pPr>
            <a:r>
              <a:rPr sz="1850" spc="-50" dirty="0">
                <a:latin typeface="Trebuchet MS"/>
                <a:cs typeface="Trebuchet MS"/>
              </a:rPr>
              <a:t>}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0097" y="947038"/>
            <a:ext cx="332549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DAX</a:t>
            </a:r>
            <a:r>
              <a:rPr spc="80" dirty="0"/>
              <a:t> </a:t>
            </a:r>
            <a:r>
              <a:rPr spc="-10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6272" y="1408179"/>
            <a:ext cx="6543040" cy="4399280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750" dirty="0">
                <a:latin typeface="Calibri"/>
                <a:cs typeface="Calibri"/>
              </a:rPr>
              <a:t>KPIs</a:t>
            </a:r>
            <a:r>
              <a:rPr sz="275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5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spc="-25" dirty="0">
                <a:latin typeface="Calibri"/>
                <a:cs typeface="Calibri"/>
              </a:rPr>
              <a:t>Total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Sales: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overall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revenue</a:t>
            </a:r>
            <a:r>
              <a:rPr sz="2000" spc="-20" dirty="0">
                <a:latin typeface="Calibri"/>
                <a:cs typeface="Calibri"/>
              </a:rPr>
              <a:t> generated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items.</a:t>
            </a:r>
            <a:endParaRPr sz="2000" dirty="0">
              <a:latin typeface="Calibri"/>
              <a:cs typeface="Calibri"/>
            </a:endParaRPr>
          </a:p>
          <a:p>
            <a:pPr marL="2179320">
              <a:lnSpc>
                <a:spcPct val="100000"/>
              </a:lnSpc>
              <a:spcBef>
                <a:spcPts val="1280"/>
              </a:spcBef>
            </a:pPr>
            <a:r>
              <a:rPr sz="2000" spc="-55" dirty="0">
                <a:latin typeface="Trebuchet MS"/>
                <a:cs typeface="Trebuchet MS"/>
              </a:rPr>
              <a:t>SUM('BlinkIT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Grocery</a:t>
            </a:r>
            <a:r>
              <a:rPr sz="2000" spc="-2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Data'[Sales])</a:t>
            </a: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spc="-25" dirty="0">
                <a:latin typeface="Calibri"/>
                <a:cs typeface="Calibri"/>
              </a:rPr>
              <a:t>Average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Sales: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average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revenue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sale.</a:t>
            </a:r>
            <a:endParaRPr sz="2000" dirty="0">
              <a:latin typeface="Calibri"/>
              <a:cs typeface="Calibri"/>
            </a:endParaRPr>
          </a:p>
          <a:p>
            <a:pPr marL="2130425">
              <a:lnSpc>
                <a:spcPct val="100000"/>
              </a:lnSpc>
              <a:spcBef>
                <a:spcPts val="1280"/>
              </a:spcBef>
            </a:pPr>
            <a:r>
              <a:rPr sz="2000" spc="-70" dirty="0">
                <a:latin typeface="Trebuchet MS"/>
                <a:cs typeface="Trebuchet MS"/>
              </a:rPr>
              <a:t>AVERAGE('BlinkIT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Grocery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Data'[Sales])</a:t>
            </a: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spc="-25" dirty="0">
                <a:latin typeface="Calibri"/>
                <a:cs typeface="Calibri"/>
              </a:rPr>
              <a:t>Average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Rating: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average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customer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items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sold.</a:t>
            </a:r>
            <a:endParaRPr sz="2000" dirty="0">
              <a:latin typeface="Calibri"/>
              <a:cs typeface="Calibri"/>
            </a:endParaRPr>
          </a:p>
          <a:p>
            <a:pPr marL="2101850">
              <a:lnSpc>
                <a:spcPct val="100000"/>
              </a:lnSpc>
              <a:spcBef>
                <a:spcPts val="1280"/>
              </a:spcBef>
            </a:pPr>
            <a:r>
              <a:rPr sz="2000" spc="-70" dirty="0">
                <a:latin typeface="Trebuchet MS"/>
                <a:cs typeface="Trebuchet MS"/>
              </a:rPr>
              <a:t>AVERAGE('BlinkIT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Grocery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Data'[Rating])</a:t>
            </a: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Number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Items: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items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sold.</a:t>
            </a:r>
            <a:endParaRPr sz="2000" dirty="0">
              <a:latin typeface="Calibri"/>
              <a:cs typeface="Calibri"/>
            </a:endParaRPr>
          </a:p>
          <a:p>
            <a:pPr marL="1899920">
              <a:lnSpc>
                <a:spcPct val="100000"/>
              </a:lnSpc>
              <a:spcBef>
                <a:spcPts val="1280"/>
              </a:spcBef>
            </a:pPr>
            <a:r>
              <a:rPr sz="2000" spc="-40" dirty="0">
                <a:latin typeface="Trebuchet MS"/>
                <a:cs typeface="Trebuchet MS"/>
              </a:rPr>
              <a:t>COUNTROWS('BlinkIT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Grocery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Data')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1619250"/>
            <a:ext cx="5257800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8800" y="685800"/>
            <a:ext cx="2400300" cy="2133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PROJECTS</a:t>
            </a:r>
            <a:r>
              <a:rPr spc="254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Overall</a:t>
            </a:r>
            <a:r>
              <a:rPr spc="-75" dirty="0"/>
              <a:t> </a:t>
            </a:r>
            <a:r>
              <a:rPr spc="-10" dirty="0"/>
              <a:t>revenue</a:t>
            </a:r>
            <a:r>
              <a:rPr spc="-9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10" dirty="0"/>
              <a:t>1.20M.</a:t>
            </a:r>
          </a:p>
          <a:p>
            <a:pPr marL="241300" indent="-228600">
              <a:lnSpc>
                <a:spcPct val="100000"/>
              </a:lnSpc>
              <a:spcBef>
                <a:spcPts val="1280"/>
              </a:spcBef>
              <a:buFont typeface="Arial MT"/>
              <a:buChar char="•"/>
              <a:tabLst>
                <a:tab pos="241300" algn="l"/>
              </a:tabLst>
            </a:pPr>
            <a:r>
              <a:rPr spc="-20" dirty="0"/>
              <a:t>Average</a:t>
            </a:r>
            <a:r>
              <a:rPr spc="-75" dirty="0"/>
              <a:t> </a:t>
            </a:r>
            <a:r>
              <a:rPr dirty="0"/>
              <a:t>revenue</a:t>
            </a:r>
            <a:r>
              <a:rPr spc="-75" dirty="0"/>
              <a:t> </a:t>
            </a:r>
            <a:r>
              <a:rPr dirty="0"/>
              <a:t>per</a:t>
            </a:r>
            <a:r>
              <a:rPr spc="-5" dirty="0"/>
              <a:t> </a:t>
            </a:r>
            <a:r>
              <a:rPr dirty="0"/>
              <a:t>sale</a:t>
            </a:r>
            <a:r>
              <a:rPr spc="-75" dirty="0"/>
              <a:t> </a:t>
            </a:r>
            <a:r>
              <a:rPr dirty="0"/>
              <a:t>on</a:t>
            </a:r>
            <a:r>
              <a:rPr spc="-55" dirty="0"/>
              <a:t> </a:t>
            </a:r>
            <a:r>
              <a:rPr dirty="0"/>
              <a:t>every</a:t>
            </a:r>
            <a:r>
              <a:rPr spc="-55" dirty="0"/>
              <a:t> </a:t>
            </a:r>
            <a:r>
              <a:rPr dirty="0"/>
              <a:t>item</a:t>
            </a:r>
            <a:r>
              <a:rPr spc="-15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spc="-10" dirty="0"/>
              <a:t>$141.</a:t>
            </a:r>
          </a:p>
          <a:p>
            <a:pPr marL="241300" indent="-2286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41300" algn="l"/>
              </a:tabLst>
            </a:pPr>
            <a:r>
              <a:rPr spc="-45" dirty="0"/>
              <a:t>Total</a:t>
            </a:r>
            <a:r>
              <a:rPr spc="-50" dirty="0"/>
              <a:t> </a:t>
            </a:r>
            <a:r>
              <a:rPr dirty="0"/>
              <a:t>8523</a:t>
            </a:r>
            <a:r>
              <a:rPr spc="-85" dirty="0"/>
              <a:t> </a:t>
            </a:r>
            <a:r>
              <a:rPr dirty="0"/>
              <a:t>items</a:t>
            </a:r>
            <a:r>
              <a:rPr spc="-75" dirty="0"/>
              <a:t> </a:t>
            </a:r>
            <a:r>
              <a:rPr dirty="0"/>
              <a:t>sold</a:t>
            </a:r>
            <a:r>
              <a:rPr spc="-55" dirty="0"/>
              <a:t> </a:t>
            </a:r>
            <a:r>
              <a:rPr dirty="0"/>
              <a:t>by</a:t>
            </a:r>
            <a:r>
              <a:rPr spc="-50" dirty="0"/>
              <a:t> </a:t>
            </a:r>
            <a:r>
              <a:rPr spc="-10" dirty="0"/>
              <a:t>different</a:t>
            </a:r>
            <a:r>
              <a:rPr spc="-45" dirty="0"/>
              <a:t> </a:t>
            </a:r>
            <a:r>
              <a:rPr dirty="0"/>
              <a:t>outlets</a:t>
            </a:r>
            <a:r>
              <a:rPr spc="-15" dirty="0"/>
              <a:t> </a:t>
            </a:r>
            <a:r>
              <a:rPr dirty="0"/>
              <a:t>at</a:t>
            </a:r>
            <a:r>
              <a:rPr spc="-45" dirty="0"/>
              <a:t> </a:t>
            </a:r>
            <a:r>
              <a:rPr spc="-10" dirty="0"/>
              <a:t>different</a:t>
            </a:r>
            <a:r>
              <a:rPr spc="-45" dirty="0"/>
              <a:t> </a:t>
            </a:r>
            <a:r>
              <a:rPr spc="-10" dirty="0"/>
              <a:t>location.</a:t>
            </a:r>
          </a:p>
          <a:p>
            <a:pPr marL="241300" indent="-228600">
              <a:lnSpc>
                <a:spcPct val="100000"/>
              </a:lnSpc>
              <a:spcBef>
                <a:spcPts val="12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Items</a:t>
            </a:r>
            <a:r>
              <a:rPr spc="-25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Low</a:t>
            </a:r>
            <a:r>
              <a:rPr spc="-65" dirty="0"/>
              <a:t> </a:t>
            </a:r>
            <a:r>
              <a:rPr dirty="0"/>
              <a:t>fat</a:t>
            </a:r>
            <a:r>
              <a:rPr spc="-50" dirty="0"/>
              <a:t> </a:t>
            </a: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have</a:t>
            </a:r>
            <a:r>
              <a:rPr spc="-8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highest</a:t>
            </a:r>
            <a:r>
              <a:rPr spc="-50" dirty="0"/>
              <a:t> </a:t>
            </a:r>
            <a:r>
              <a:rPr dirty="0"/>
              <a:t>sales</a:t>
            </a:r>
            <a:r>
              <a:rPr spc="-8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776.32K</a:t>
            </a:r>
            <a:r>
              <a:rPr spc="-110" dirty="0"/>
              <a:t> </a:t>
            </a:r>
            <a:r>
              <a:rPr dirty="0"/>
              <a:t>compared</a:t>
            </a:r>
            <a:r>
              <a:rPr spc="-6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regular</a:t>
            </a:r>
            <a:r>
              <a:rPr spc="-65" dirty="0"/>
              <a:t> </a:t>
            </a:r>
            <a:r>
              <a:rPr dirty="0"/>
              <a:t>fat</a:t>
            </a:r>
            <a:r>
              <a:rPr spc="-50" dirty="0"/>
              <a:t> </a:t>
            </a:r>
            <a:r>
              <a:rPr dirty="0"/>
              <a:t>i.e.,</a:t>
            </a:r>
            <a:r>
              <a:rPr spc="-30" dirty="0"/>
              <a:t> </a:t>
            </a:r>
            <a:r>
              <a:rPr spc="-10" dirty="0"/>
              <a:t>425.36K.</a:t>
            </a:r>
          </a:p>
          <a:p>
            <a:pPr marL="241300" indent="-228600">
              <a:lnSpc>
                <a:spcPct val="100000"/>
              </a:lnSpc>
              <a:spcBef>
                <a:spcPts val="12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Medium</a:t>
            </a:r>
            <a:r>
              <a:rPr spc="-35" dirty="0"/>
              <a:t> </a:t>
            </a:r>
            <a:r>
              <a:rPr dirty="0"/>
              <a:t>sized</a:t>
            </a:r>
            <a:r>
              <a:rPr spc="-70" dirty="0"/>
              <a:t> </a:t>
            </a:r>
            <a:r>
              <a:rPr dirty="0"/>
              <a:t>outlet</a:t>
            </a:r>
            <a:r>
              <a:rPr spc="-60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dirty="0"/>
              <a:t>at</a:t>
            </a:r>
            <a:r>
              <a:rPr spc="-55" dirty="0"/>
              <a:t> </a:t>
            </a:r>
            <a:r>
              <a:rPr dirty="0"/>
              <a:t>top</a:t>
            </a:r>
            <a:r>
              <a:rPr spc="-70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terms</a:t>
            </a:r>
            <a:r>
              <a:rPr spc="-3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revenue</a:t>
            </a:r>
            <a:r>
              <a:rPr spc="-25" dirty="0"/>
              <a:t> </a:t>
            </a:r>
            <a:r>
              <a:rPr spc="-10" dirty="0"/>
              <a:t>generation</a:t>
            </a:r>
            <a:r>
              <a:rPr spc="-70" dirty="0"/>
              <a:t> </a:t>
            </a:r>
            <a:r>
              <a:rPr dirty="0"/>
              <a:t>whereas</a:t>
            </a:r>
            <a:r>
              <a:rPr spc="-90" dirty="0"/>
              <a:t> </a:t>
            </a:r>
            <a:r>
              <a:rPr dirty="0"/>
              <a:t>high</a:t>
            </a:r>
            <a:r>
              <a:rPr spc="-70" dirty="0"/>
              <a:t> </a:t>
            </a:r>
            <a:r>
              <a:rPr dirty="0"/>
              <a:t>sized</a:t>
            </a:r>
            <a:r>
              <a:rPr spc="-70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at</a:t>
            </a:r>
            <a:r>
              <a:rPr spc="-60" dirty="0"/>
              <a:t> </a:t>
            </a:r>
            <a:r>
              <a:rPr spc="-10" dirty="0"/>
              <a:t>bottom.</a:t>
            </a:r>
          </a:p>
          <a:p>
            <a:pPr marL="241300" indent="-2286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Fruits</a:t>
            </a:r>
            <a:r>
              <a:rPr spc="-6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20" dirty="0"/>
              <a:t>Vegetables</a:t>
            </a:r>
            <a:r>
              <a:rPr spc="-60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most</a:t>
            </a:r>
            <a:r>
              <a:rPr spc="-30" dirty="0"/>
              <a:t> </a:t>
            </a:r>
            <a:r>
              <a:rPr dirty="0"/>
              <a:t>selling</a:t>
            </a:r>
            <a:r>
              <a:rPr spc="-70" dirty="0"/>
              <a:t> </a:t>
            </a:r>
            <a:r>
              <a:rPr dirty="0"/>
              <a:t>items</a:t>
            </a:r>
            <a:r>
              <a:rPr spc="-6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sales</a:t>
            </a:r>
            <a:r>
              <a:rPr spc="-60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178.12K.</a:t>
            </a:r>
          </a:p>
          <a:p>
            <a:pPr marL="241300" indent="-228600">
              <a:lnSpc>
                <a:spcPct val="100000"/>
              </a:lnSpc>
              <a:spcBef>
                <a:spcPts val="128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/>
              <a:t>Seafood</a:t>
            </a:r>
            <a:r>
              <a:rPr spc="-40" dirty="0"/>
              <a:t> </a:t>
            </a:r>
            <a:r>
              <a:rPr dirty="0"/>
              <a:t>is the</a:t>
            </a:r>
            <a:r>
              <a:rPr spc="-60" dirty="0"/>
              <a:t> </a:t>
            </a:r>
            <a:r>
              <a:rPr dirty="0"/>
              <a:t>least</a:t>
            </a:r>
            <a:r>
              <a:rPr spc="-30" dirty="0"/>
              <a:t> </a:t>
            </a:r>
            <a:r>
              <a:rPr dirty="0"/>
              <a:t>selling</a:t>
            </a:r>
            <a:r>
              <a:rPr spc="-75" dirty="0"/>
              <a:t> </a:t>
            </a:r>
            <a:r>
              <a:rPr dirty="0"/>
              <a:t>items</a:t>
            </a:r>
            <a:r>
              <a:rPr spc="-6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value</a:t>
            </a:r>
            <a:r>
              <a:rPr spc="1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only</a:t>
            </a:r>
            <a:r>
              <a:rPr spc="385" dirty="0"/>
              <a:t> </a:t>
            </a:r>
            <a:r>
              <a:rPr spc="-10" dirty="0"/>
              <a:t>9.08K.</a:t>
            </a:r>
          </a:p>
          <a:p>
            <a:pPr marL="241300" marR="5080" indent="-229235">
              <a:lnSpc>
                <a:spcPct val="1096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/>
              <a:t>Data</a:t>
            </a:r>
            <a:r>
              <a:rPr spc="-105" dirty="0"/>
              <a:t> </a:t>
            </a:r>
            <a:r>
              <a:rPr dirty="0"/>
              <a:t>reveals</a:t>
            </a:r>
            <a:r>
              <a:rPr spc="-9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sales</a:t>
            </a:r>
            <a:r>
              <a:rPr spc="-85" dirty="0"/>
              <a:t> </a:t>
            </a:r>
            <a:r>
              <a:rPr dirty="0"/>
              <a:t>reached</a:t>
            </a:r>
            <a:r>
              <a:rPr spc="-60" dirty="0"/>
              <a:t> </a:t>
            </a:r>
            <a:r>
              <a:rPr dirty="0"/>
              <a:t>their</a:t>
            </a:r>
            <a:r>
              <a:rPr spc="-10" dirty="0"/>
              <a:t> </a:t>
            </a:r>
            <a:r>
              <a:rPr dirty="0"/>
              <a:t>peak</a:t>
            </a:r>
            <a:r>
              <a:rPr spc="-6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2018,</a:t>
            </a:r>
            <a:r>
              <a:rPr spc="-30" dirty="0"/>
              <a:t> </a:t>
            </a:r>
            <a:r>
              <a:rPr dirty="0"/>
              <a:t>highlighting</a:t>
            </a:r>
            <a:r>
              <a:rPr spc="-30" dirty="0"/>
              <a:t> </a:t>
            </a:r>
            <a:r>
              <a:rPr dirty="0"/>
              <a:t>it</a:t>
            </a:r>
            <a:r>
              <a:rPr spc="-55" dirty="0"/>
              <a:t> </a:t>
            </a:r>
            <a:r>
              <a:rPr dirty="0"/>
              <a:t>as</a:t>
            </a:r>
            <a:r>
              <a:rPr spc="-8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highest-</a:t>
            </a:r>
            <a:r>
              <a:rPr dirty="0"/>
              <a:t>performing</a:t>
            </a:r>
            <a:r>
              <a:rPr spc="-25" dirty="0"/>
              <a:t> </a:t>
            </a:r>
            <a:r>
              <a:rPr dirty="0"/>
              <a:t>year</a:t>
            </a:r>
            <a:r>
              <a:rPr spc="-15" dirty="0"/>
              <a:t> </a:t>
            </a:r>
            <a:r>
              <a:rPr spc="-25" dirty="0"/>
              <a:t>in </a:t>
            </a:r>
            <a:r>
              <a:rPr dirty="0"/>
              <a:t>terms</a:t>
            </a:r>
            <a:r>
              <a:rPr spc="-8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revenue</a:t>
            </a:r>
            <a:r>
              <a:rPr spc="-70" dirty="0"/>
              <a:t> </a:t>
            </a:r>
            <a:r>
              <a:rPr spc="-10" dirty="0"/>
              <a:t>generation.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1E11-ACE0-D3D7-F9BC-432BAAAD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142337E-4BE2-B09C-E02C-906A59A9BE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200" y="1828800"/>
            <a:ext cx="2981325" cy="27051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03EB78F-379E-0284-C3FD-6A704AF4EA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1332" y="947038"/>
            <a:ext cx="7194868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Business Recommendations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641BA30-6B05-C450-6801-E9FC78C33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7082" y="1627995"/>
            <a:ext cx="7194868" cy="4282967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Based on the analysis: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Increase stock for high-demand categories like fruits and snacks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product visibility for underperforming items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Focus expansion in Tier 3 locations where sales are highest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Optimize inventory for low performing categories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Enhance marketing for products with high ratings but low sales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201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9BA1-555C-0D05-E0C3-8349FC7B1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32" y="947038"/>
            <a:ext cx="5259070" cy="607859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12824-6816-FA27-4E00-2FB109FE3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52600"/>
            <a:ext cx="9404668" cy="456894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This dashboard provides a comprehensive analysis of Blinkit’s sales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By combining data visualization, DAX calculations, and interactive filters, the dashboard enables stakeholders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Monitor key sales metrics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Identify high performing products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Understand outlet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Make informed business decisions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project demonstrates how </a:t>
            </a:r>
            <a:r>
              <a:rPr lang="en-IN" b="1" dirty="0"/>
              <a:t>Power BI can transform raw data into actionable insights.</a:t>
            </a:r>
            <a:endParaRPr lang="en-IN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777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</TotalTime>
  <Words>801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MT</vt:lpstr>
      <vt:lpstr>Calibri</vt:lpstr>
      <vt:lpstr>Cambria</vt:lpstr>
      <vt:lpstr>Georgia</vt:lpstr>
      <vt:lpstr>Segoe UI</vt:lpstr>
      <vt:lpstr>Tahoma</vt:lpstr>
      <vt:lpstr>Trebuchet MS</vt:lpstr>
      <vt:lpstr>Office Theme</vt:lpstr>
      <vt:lpstr>BLINKIT</vt:lpstr>
      <vt:lpstr>Presented by: Amit Kumar  Project: Data Analytics Capstone 01  Tools Used: Power BI | DAX | Data Modeling  Description: Sales Analysis Dashboard  An interactive Power BI dashboard created to analyze Blinkit grocery sales data and derive actionable business insights.     </vt:lpstr>
      <vt:lpstr>INTRODUCTION</vt:lpstr>
      <vt:lpstr>OBJECTIVES</vt:lpstr>
      <vt:lpstr>Dataset Overview</vt:lpstr>
      <vt:lpstr>KEY FEATURES</vt:lpstr>
      <vt:lpstr>PROJECT PHASES</vt:lpstr>
      <vt:lpstr>DAX QUERIES</vt:lpstr>
      <vt:lpstr>DAX QUERIES</vt:lpstr>
      <vt:lpstr>PROJECTS INSIGHTS</vt:lpstr>
      <vt:lpstr>Business 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Amit Kumar</cp:lastModifiedBy>
  <cp:revision>16</cp:revision>
  <dcterms:created xsi:type="dcterms:W3CDTF">2026-03-06T21:07:55Z</dcterms:created>
  <dcterms:modified xsi:type="dcterms:W3CDTF">2026-03-06T21:30:35Z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2024-12-25T00:00:00Z</vt:filetime>
  </property>
  <property fmtid="{D5CDD505-2E9C-101B-9397-08002B2CF9AE}" pid="3" name="LastSaved">
    <vt:filetime>2026-03-06T00:00:00Z</vt:filetime>
  </property>
</Properties>
</file>